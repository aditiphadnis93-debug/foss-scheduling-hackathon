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Framed as a classic decision support system: data (the organisers' roster and reference tables), a model (greedy 60-day forecast; booking cost = minutes x p(heard)), and a dialogue where the judge stays the decision maker. Every option is explained: the listing's "why" shows each score term, and the impact panel shows who pays for a date. The published causelist is frozen at 7 PM; closing the day moves untaken cases to their nearest date with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advocate view is the judge's desk with every write control hidden: no outcome, no hearing-time override, no Confirm, no Close the day, no downloads, and nothing saved. The synthetic roster (planner/synth.py) simulates case lifecycles calibrated on provided/ only, so the system can be exercised with a docket small enough to leave spare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FOR THE NEXT DATE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recommends and explains. The judge decides.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606040"/>
          </a:xfrm>
          <a:prstGeom prst="roundRect">
            <a:avLst>
              <a:gd name="adj" fmla="val 3810"/>
            </a:avLst>
          </a:prstGeom>
          <a:solidFill>
            <a:srgbClr val="22364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36192"/>
            <a:ext cx="420624" cy="420624"/>
          </a:xfrm>
          <a:prstGeom prst="ellipse">
            <a:avLst/>
          </a:prstGeom>
          <a:solidFill>
            <a:srgbClr val="C896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641348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536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Evidence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773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7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judge sees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121408"/>
            <a:ext cx="16642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stage, hearings vs the median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the hearing goes ahead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hearing summary and usual failure reasons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Advocate's other dates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23160" y="2587752"/>
            <a:ext cx="91440" cy="182880"/>
          </a:xfrm>
          <a:prstGeom prst="chevron">
            <a:avLst/>
          </a:prstGeom>
          <a:solidFill>
            <a:srgbClr val="C8963E"/>
          </a:solidFill>
          <a:ln/>
        </p:spPr>
      </p:sp>
      <p:sp>
        <p:nvSpPr>
          <p:cNvPr id="11" name="Shape 8"/>
          <p:cNvSpPr/>
          <p:nvPr/>
        </p:nvSpPr>
        <p:spPr>
          <a:xfrm>
            <a:off x="2560320" y="1371600"/>
            <a:ext cx="1920240" cy="2606040"/>
          </a:xfrm>
          <a:prstGeom prst="roundRect">
            <a:avLst>
              <a:gd name="adj" fmla="val 3810"/>
            </a:avLst>
          </a:prstGeom>
          <a:solidFill>
            <a:srgbClr val="22364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97480" y="1536192"/>
            <a:ext cx="420624" cy="420624"/>
          </a:xfrm>
          <a:prstGeom prst="ellipse">
            <a:avLst/>
          </a:prstGeom>
          <a:solidFill>
            <a:srgbClr val="C8963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36" y="1641348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00400" y="1536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Options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200400" y="1773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7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offers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2697480" y="2121408"/>
            <a:ext cx="16642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Earliest: purpose gap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date with room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forecast re-run for each candidate day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minutes on the days around it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26280" y="2587752"/>
            <a:ext cx="91440" cy="182880"/>
          </a:xfrm>
          <a:prstGeom prst="chevron">
            <a:avLst/>
          </a:prstGeom>
          <a:solidFill>
            <a:srgbClr val="C8963E"/>
          </a:solidFill>
          <a:ln/>
        </p:spPr>
      </p:sp>
      <p:sp>
        <p:nvSpPr>
          <p:cNvPr id="18" name="Shape 14"/>
          <p:cNvSpPr/>
          <p:nvPr/>
        </p:nvSpPr>
        <p:spPr>
          <a:xfrm>
            <a:off x="4663440" y="1371600"/>
            <a:ext cx="1920240" cy="2606040"/>
          </a:xfrm>
          <a:prstGeom prst="roundRect">
            <a:avLst>
              <a:gd name="adj" fmla="val 3810"/>
            </a:avLst>
          </a:prstGeom>
          <a:solidFill>
            <a:srgbClr val="C8963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00600" y="1536192"/>
            <a:ext cx="420624" cy="420624"/>
          </a:xfrm>
          <a:prstGeom prst="ellipse">
            <a:avLst/>
          </a:prstGeom>
          <a:solidFill>
            <a:srgbClr val="16263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756" y="1641348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03520" y="1536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Decision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5303520" y="1773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judge records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4800600" y="2121408"/>
            <a:ext cx="16642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of the hearing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purpose (defaults to the next stage)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date, or their own proposal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minutes, if the default is wrong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629400" y="2587752"/>
            <a:ext cx="91440" cy="182880"/>
          </a:xfrm>
          <a:prstGeom prst="chevron">
            <a:avLst/>
          </a:prstGeom>
          <a:solidFill>
            <a:srgbClr val="C8963E"/>
          </a:solidFill>
          <a:ln/>
        </p:spPr>
      </p:sp>
      <p:sp>
        <p:nvSpPr>
          <p:cNvPr id="25" name="Shape 20"/>
          <p:cNvSpPr/>
          <p:nvPr/>
        </p:nvSpPr>
        <p:spPr>
          <a:xfrm>
            <a:off x="6766560" y="1371600"/>
            <a:ext cx="1920240" cy="2606040"/>
          </a:xfrm>
          <a:prstGeom prst="roundRect">
            <a:avLst>
              <a:gd name="adj" fmla="val 3810"/>
            </a:avLst>
          </a:prstGeom>
          <a:solidFill>
            <a:srgbClr val="22364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03720" y="1536192"/>
            <a:ext cx="420624" cy="420624"/>
          </a:xfrm>
          <a:prstGeom prst="ellipse">
            <a:avLst/>
          </a:prstGeom>
          <a:solidFill>
            <a:srgbClr val="C8963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8876" y="1641348"/>
            <a:ext cx="210312" cy="21031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406640" y="1536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Impact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7406640" y="1773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7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6903720" y="2121408"/>
            <a:ext cx="16642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cases move later, and by how many days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age: (1 + age points) × days late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on dates earlier than the gap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next 60-day forecast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 / 420</a:t>
            </a:r>
            <a:endParaRPr lang="en-US" sz="24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a day planned; 30 kept for urgent matters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24612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days</a:t>
            </a:r>
            <a:endParaRPr lang="en-US" sz="2400" dirty="0"/>
          </a:p>
        </p:txBody>
      </p:sp>
      <p:sp>
        <p:nvSpPr>
          <p:cNvPr id="34" name="Text 28"/>
          <p:cNvSpPr txBox="1"/>
          <p:nvPr/>
        </p:nvSpPr>
        <p:spPr>
          <a:xfrm>
            <a:off x="3246120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re-derived after every decision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6035040" y="4160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12</a:t>
            </a:r>
            <a:endParaRPr lang="en-US" sz="2400" dirty="0"/>
          </a:p>
        </p:txBody>
      </p:sp>
      <p:sp>
        <p:nvSpPr>
          <p:cNvPr id="36" name="Text 30"/>
          <p:cNvSpPr txBox="1"/>
          <p:nvPr/>
        </p:nvSpPr>
        <p:spPr>
          <a:xfrm>
            <a:off x="6035040" y="4572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days checked for the best fit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NOT AUTOMATION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set of figures for the whole courtroom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supports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3931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Advocate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the case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dates and their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the next 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the decision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the day, publish the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794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Advocates see only their own cases. They don't decide; they come to the hearing with the judge's own figures.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judge can trust it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6916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/>
        </p:spPr>
      </p:sp>
      <p:sp>
        <p:nvSpPr>
          <p:cNvPr id="9" name="Shape 6"/>
          <p:cNvSpPr/>
          <p:nvPr/>
        </p:nvSpPr>
        <p:spPr>
          <a:xfrm>
            <a:off x="4919472" y="1920240"/>
            <a:ext cx="457200" cy="457200"/>
          </a:xfrm>
          <a:prstGeom prst="ellipse">
            <a:avLst/>
          </a:prstGeom>
          <a:solidFill>
            <a:srgbClr val="C8963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0299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8013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2075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shows its score terms: age, purpose priority, days waiting, stuck at the stage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54880" y="269748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/>
        </p:spPr>
      </p:sp>
      <p:sp>
        <p:nvSpPr>
          <p:cNvPr id="14" name="Shape 10"/>
          <p:cNvSpPr/>
          <p:nvPr/>
        </p:nvSpPr>
        <p:spPr>
          <a:xfrm>
            <a:off x="4919472" y="2926080"/>
            <a:ext cx="457200" cy="457200"/>
          </a:xfrm>
          <a:prstGeom prst="ellipse">
            <a:avLst/>
          </a:prstGeom>
          <a:solidFill>
            <a:srgbClr val="C8963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03580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532120" y="28072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data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532120" y="3081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p(heard) from the organisers' failure reasons; assumptions stated, not hidden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0" y="37033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/>
        </p:spPr>
      </p:sp>
      <p:sp>
        <p:nvSpPr>
          <p:cNvPr id="19" name="Shape 14"/>
          <p:cNvSpPr/>
          <p:nvPr/>
        </p:nvSpPr>
        <p:spPr>
          <a:xfrm>
            <a:off x="4919472" y="3931920"/>
            <a:ext cx="457200" cy="457200"/>
          </a:xfrm>
          <a:prstGeom prst="ellipse">
            <a:avLst/>
          </a:prstGeom>
          <a:solidFill>
            <a:srgbClr val="C8963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0416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38130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under load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4087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sample · 3,000 roster (every day full) · synthetic 225 (spare hours on ~40% of days)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Causelist decision support</dc:title>
  <dc:subject>PptxGenJS Presentation</dc:subject>
  <dc:creator>PptxGenJS</dc:creator>
  <cp:lastModifiedBy>PptxGenJS</cp:lastModifiedBy>
  <cp:revision>1</cp:revision>
  <dcterms:created xsi:type="dcterms:W3CDTF">2026-09-24T11:12:57Z</dcterms:created>
  <dcterms:modified xsi:type="dcterms:W3CDTF">2026-09-24T11:12:57Z</dcterms:modified>
</cp:coreProperties>
</file>